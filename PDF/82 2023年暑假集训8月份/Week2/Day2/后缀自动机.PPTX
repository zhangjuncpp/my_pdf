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8" r:id="rId14"/>
    <p:sldId id="268" r:id="rId15"/>
    <p:sldId id="269" r:id="rId16"/>
    <p:sldId id="267" r:id="rId17"/>
    <p:sldId id="272" r:id="rId18"/>
    <p:sldId id="273" r:id="rId19"/>
    <p:sldId id="274" r:id="rId20"/>
    <p:sldId id="277" r:id="rId21"/>
    <p:sldId id="276" r:id="rId22"/>
    <p:sldId id="279" r:id="rId23"/>
    <p:sldId id="280" r:id="rId24"/>
    <p:sldId id="281" r:id="rId25"/>
    <p:sldId id="282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9EE691-B3AF-4AD2-A9A0-1821E25D7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60A677-52FE-4C84-BB25-CD9177323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805C00-A546-48C0-B8E2-9ED3A5055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EC41-8179-43BA-8005-FDE458A8D08E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7BCCAA-25DD-4E0E-81E6-7499B76A6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C32A52-275D-4E91-AC31-9D56D980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468A-C892-4D1F-BA16-1AEEC97B3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40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0F81DF-A2E4-4FB5-8C95-6749CF2F3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9F0F7B-90EE-4C39-93D2-B9D59D1C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8C846F-7EC0-414C-9272-D6B190643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EC41-8179-43BA-8005-FDE458A8D08E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61182A-ED82-4EB1-AABB-6E02B4F33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0E5E27-8F1A-4EBA-BB50-07E06935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468A-C892-4D1F-BA16-1AEEC97B3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635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ED242-357D-416A-9DCF-6763C3D89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BE7B98-5321-4410-8AC5-59CED430B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04805B-085F-4040-B8C0-71617BC63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EC41-8179-43BA-8005-FDE458A8D08E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313375-053A-4459-B0C6-4561A8AE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AB3F57-AD9B-4812-A044-6E88C78E2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468A-C892-4D1F-BA16-1AEEC97B3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105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088F8-FA56-4D0A-B835-4B969E8AB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1FCF36-83B6-432B-900A-8FE86FED2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09EF51-A149-4836-8203-511C5555A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75167A-C940-42C4-915B-3313A1B6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EC41-8179-43BA-8005-FDE458A8D08E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60BB6-ABC9-4215-90E8-404554BE9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03CF94-4315-4702-8C5F-866923303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468A-C892-4D1F-BA16-1AEEC97B3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318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883CE-C0AD-4D85-B5AB-5B5057523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5FF0A0-8F17-41BD-B8CE-81D7912AE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6335A9-F3EC-4494-90B3-7B581D1D9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927B926-4F46-47BD-8D4D-0A02C0D5C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69CDEEA-FD28-4C0F-B1B3-D43BC03ED3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D7D1418-2F0A-494E-B109-BD2E19A39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EC41-8179-43BA-8005-FDE458A8D08E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2006759-6B9E-473D-9274-6AB46921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446692-6EA0-4EC8-840E-BA35BC7DE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468A-C892-4D1F-BA16-1AEEC97B3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382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DBE97-F3D6-49E2-8CBB-E801662D9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F6830-FDD3-411A-AD20-CDA5D075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EC41-8179-43BA-8005-FDE458A8D08E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596758-130A-4624-ADC3-CD9254B5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26B45F-A31B-4AA6-A9DF-10BB384B4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468A-C892-4D1F-BA16-1AEEC97B3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12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4FB79B-AAD8-4C54-B644-CF847DD16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EC41-8179-43BA-8005-FDE458A8D08E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9391BF4-D0B4-4A74-BDA4-902AE1B2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AC39E3-502A-41AB-8CE8-B906EA1BC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468A-C892-4D1F-BA16-1AEEC97B3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305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8AD16F-6A6C-48BB-A93D-D10BDD17E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2C3ACD-813C-40F7-B433-38BA65FD9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64D0B0-03A4-4A22-8631-84AC5E7E3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C902E5-0E6D-402D-9C3D-26BB7BE6A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EC41-8179-43BA-8005-FDE458A8D08E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6AFC01-15EB-422B-8146-81D66C549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DACC02-ADD6-46D8-91A3-3C9BCD512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468A-C892-4D1F-BA16-1AEEC97B3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148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906CA6-CADE-4F08-A5B3-1EAFF251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80DBC44-82B5-4F50-B813-D8A63AD66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3F6C81-4C88-4847-92CC-C226657C1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4CDF64-AE5E-48E1-B543-309B1712B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EC41-8179-43BA-8005-FDE458A8D08E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B2E1FD-354F-4E45-A4E0-D22722224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60972D-82AE-455B-A67A-F8BB2324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468A-C892-4D1F-BA16-1AEEC97B3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880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D9F2F8-B764-443C-AD80-F571C44FD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05D21E-CF59-4D5C-9F0B-3373B4F02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5E1919-8A05-4CFD-A82D-EEB4EF703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EC41-8179-43BA-8005-FDE458A8D08E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942EE7-1EBD-442B-84BE-F0F841E4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1A03C0-E524-483A-9F7A-A0B8E6369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468A-C892-4D1F-BA16-1AEEC97B3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134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4DAD19-5FB3-4A93-AAAA-EFE40BE374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722507-BE1E-4AD2-BE5C-8FAA7DBAD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129F99-4FCD-4024-9144-8C95CFD38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EC41-8179-43BA-8005-FDE458A8D08E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FE57B6-A6C9-4C56-93E6-6AD7FF20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4CE2F2-16C7-495C-B486-3823CAA2E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468A-C892-4D1F-BA16-1AEEC97B3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55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9283154-20AC-48F9-8B6F-55228F7D9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D024C8-374D-403A-B3DC-6554D2B64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447305-4256-45E8-BB70-90302196A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7EC41-8179-43BA-8005-FDE458A8D08E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60B282-5505-4476-9BAE-1AD88F73F5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281EC8-679D-44F8-B06B-DD7FC7A2F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A1468A-C892-4D1F-BA16-1AEEC97B3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568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p-algorithms.com/string/suffix-automaton.html#suffix-links-link" TargetMode="External"/><Relationship Id="rId2" Type="http://schemas.openxmlformats.org/officeDocument/2006/relationships/hyperlink" Target="https://e-maxx.ru/algo/suffix_automat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oi-wiki.org/string/sam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E9236-DF35-4DE5-9169-53FF7E8384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后缀自动机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9FC66A-961C-4ECB-BF77-E7473B3FE5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HZL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3586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7EED6-7623-4BAE-87E6-E0C6322BD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说明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82B6C18-4107-4D6D-BFA2-03F36CD152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是按照</a:t>
                </a:r>
                <a:r>
                  <a:rPr lang="en-US" altLang="zh-CN" dirty="0"/>
                  <a:t>SAM</a:t>
                </a:r>
                <a:r>
                  <a:rPr lang="zh-CN" altLang="en-US" dirty="0"/>
                  <a:t>论文的顺序来讲的</a:t>
                </a:r>
                <a:endParaRPr lang="en-US" altLang="zh-CN" dirty="0"/>
              </a:p>
              <a:p>
                <a:r>
                  <a:rPr lang="zh-CN" altLang="en-US" dirty="0"/>
                  <a:t>论文中下标从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开始，不过一般做题还是从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开始，不影响中间的理解</a:t>
                </a:r>
                <a:endParaRPr lang="en-US" altLang="zh-CN" dirty="0"/>
              </a:p>
              <a:p>
                <a:r>
                  <a:rPr lang="zh-CN" altLang="en-US" dirty="0"/>
                  <a:t>俄语原文：</a:t>
                </a:r>
                <a:r>
                  <a:rPr lang="en-US" altLang="zh-CN" dirty="0">
                    <a:hlinkClick r:id="rId2"/>
                  </a:rPr>
                  <a:t>https://e-maxx.ru/algo/suffix_automata</a:t>
                </a:r>
                <a:endParaRPr lang="en-US" altLang="zh-CN" dirty="0"/>
              </a:p>
              <a:p>
                <a:r>
                  <a:rPr lang="zh-CN" altLang="en-US" dirty="0"/>
                  <a:t>英语译文：</a:t>
                </a:r>
                <a:r>
                  <a:rPr lang="en-US" altLang="zh-CN" dirty="0">
                    <a:hlinkClick r:id="rId3"/>
                  </a:rPr>
                  <a:t>https://cp-algorithms.com/string/suffix-automaton.html#suffix-links-link</a:t>
                </a:r>
                <a:endParaRPr lang="en-US" altLang="zh-CN" dirty="0"/>
              </a:p>
              <a:p>
                <a:r>
                  <a:rPr lang="en-US" altLang="zh-CN" dirty="0"/>
                  <a:t>Oi-wiki</a:t>
                </a:r>
                <a:r>
                  <a:rPr lang="zh-CN" altLang="en-US" dirty="0"/>
                  <a:t>：</a:t>
                </a:r>
                <a:r>
                  <a:rPr lang="en-US" altLang="zh-CN" dirty="0">
                    <a:hlinkClick r:id="rId4"/>
                  </a:rPr>
                  <a:t>https://oi-wiki.org/string/sam/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82B6C18-4107-4D6D-BFA2-03F36CD152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0218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D58A20-F30F-4D43-B4FC-57E595735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自动机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E7A047-38BB-4D6F-A468-4FF565D344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802187"/>
              </a:xfrm>
            </p:spPr>
            <p:txBody>
              <a:bodyPr/>
              <a:lstStyle/>
              <a:p>
                <a:r>
                  <a:rPr lang="en-US" altLang="zh-CN" dirty="0"/>
                  <a:t>OI</a:t>
                </a:r>
                <a:r>
                  <a:rPr lang="zh-CN" altLang="en-US" dirty="0"/>
                  <a:t>中的“自动机”一般说的是“确定有限状态自动机（</a:t>
                </a:r>
                <a:r>
                  <a:rPr lang="en-US" altLang="zh-CN" dirty="0"/>
                  <a:t>DFA</a:t>
                </a:r>
                <a:r>
                  <a:rPr lang="zh-CN" altLang="en-US" dirty="0"/>
                  <a:t>）”</a:t>
                </a:r>
                <a:endParaRPr lang="en-US" altLang="zh-CN" dirty="0"/>
              </a:p>
              <a:p>
                <a:r>
                  <a:rPr lang="zh-CN" altLang="en-US" dirty="0"/>
                  <a:t>一个</a:t>
                </a:r>
                <a:r>
                  <a:rPr lang="en-US" altLang="zh-CN" dirty="0"/>
                  <a:t>DFA</a:t>
                </a:r>
                <a:r>
                  <a:rPr lang="zh-CN" altLang="en-US" dirty="0"/>
                  <a:t>由以下五部分组成的五元组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：</a:t>
                </a:r>
                <a:endParaRPr lang="en-US" altLang="zh-CN" dirty="0"/>
              </a:p>
              <a:p>
                <a:r>
                  <a:rPr lang="zh-CN" altLang="en-US" dirty="0"/>
                  <a:t>状态集合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dirty="0"/>
                  <a:t>；</a:t>
                </a:r>
                <a:endParaRPr lang="en-US" altLang="zh-CN" dirty="0"/>
              </a:p>
              <a:p>
                <a:r>
                  <a:rPr lang="zh-CN" altLang="en-US" dirty="0"/>
                  <a:t>字符集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/>
                  <a:t>；</a:t>
                </a:r>
                <a:endParaRPr lang="en-US" altLang="zh-CN" dirty="0"/>
              </a:p>
              <a:p>
                <a:r>
                  <a:rPr lang="zh-CN" altLang="en-US" dirty="0"/>
                  <a:t>状态转移函数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dirty="0"/>
                  <a:t>；</a:t>
                </a:r>
                <a:endParaRPr lang="en-US" altLang="zh-CN" dirty="0"/>
              </a:p>
              <a:p>
                <a:r>
                  <a:rPr lang="zh-CN" altLang="en-US" dirty="0"/>
                  <a:t>开始状态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dirty="0"/>
                  <a:t>；</a:t>
                </a:r>
                <a:endParaRPr lang="en-US" altLang="zh-CN" dirty="0"/>
              </a:p>
              <a:p>
                <a:r>
                  <a:rPr lang="zh-CN" altLang="en-US" dirty="0"/>
                  <a:t>接受状态集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dirty="0"/>
                  <a:t>；</a:t>
                </a:r>
                <a:endParaRPr lang="en-US" altLang="zh-CN" dirty="0"/>
              </a:p>
              <a:p>
                <a:r>
                  <a:rPr lang="zh-CN" altLang="en-US" dirty="0"/>
                  <a:t>可以借助</a:t>
                </a:r>
                <a:r>
                  <a:rPr lang="en-US" altLang="zh-CN" dirty="0"/>
                  <a:t>AC</a:t>
                </a:r>
                <a:r>
                  <a:rPr lang="zh-CN" altLang="en-US" dirty="0"/>
                  <a:t>自动机感性理解一下</a:t>
                </a:r>
                <a:endParaRPr lang="en-US" altLang="zh-CN" dirty="0"/>
              </a:p>
              <a:p>
                <a:r>
                  <a:rPr lang="zh-CN" altLang="en-US" dirty="0"/>
                  <a:t>通常</a:t>
                </a:r>
                <a:r>
                  <a:rPr lang="en-US" altLang="zh-CN" dirty="0"/>
                  <a:t>DFA</a:t>
                </a:r>
                <a:r>
                  <a:rPr lang="zh-CN" altLang="en-US" dirty="0"/>
                  <a:t>是</a:t>
                </a:r>
                <a:r>
                  <a:rPr lang="en-US" altLang="zh-CN" dirty="0"/>
                  <a:t>DAG</a:t>
                </a:r>
                <a:r>
                  <a:rPr lang="zh-CN" altLang="en-US" dirty="0"/>
                  <a:t>，但是</a:t>
                </a:r>
                <a:r>
                  <a:rPr lang="en-US" altLang="zh-CN" dirty="0"/>
                  <a:t>AC</a:t>
                </a:r>
                <a:r>
                  <a:rPr lang="zh-CN" altLang="en-US" dirty="0"/>
                  <a:t>自动机因为引入了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𝑓𝑎𝑖𝑙</m:t>
                    </m:r>
                  </m:oMath>
                </a14:m>
                <a:r>
                  <a:rPr lang="zh-CN" altLang="en-US" dirty="0"/>
                  <a:t>指针所以有环</a:t>
                </a: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E7A047-38BB-4D6F-A468-4FF565D344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802187"/>
              </a:xfrm>
              <a:blipFill>
                <a:blip r:embed="rId2"/>
                <a:stretch>
                  <a:fillRect l="-1043" t="-22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D4E9D3E-9E2F-4038-83AF-DC77D0347F23}"/>
              </a:ext>
            </a:extLst>
          </p:cNvPr>
          <p:cNvSpPr txBox="1">
            <a:spLocks/>
          </p:cNvSpPr>
          <p:nvPr/>
        </p:nvSpPr>
        <p:spPr>
          <a:xfrm>
            <a:off x="5409171" y="272611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AC</a:t>
            </a:r>
            <a:r>
              <a:rPr lang="zh-CN" altLang="en-US" dirty="0">
                <a:solidFill>
                  <a:srgbClr val="FF0000"/>
                </a:solidFill>
              </a:rPr>
              <a:t>自动机上的每个点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字符集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AC</a:t>
            </a:r>
            <a:r>
              <a:rPr lang="zh-CN" altLang="en-US" dirty="0">
                <a:solidFill>
                  <a:srgbClr val="FF0000"/>
                </a:solidFill>
              </a:rPr>
              <a:t>自动机上的每条边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 err="1">
                <a:solidFill>
                  <a:srgbClr val="FF0000"/>
                </a:solidFill>
              </a:rPr>
              <a:t>Trie</a:t>
            </a:r>
            <a:r>
              <a:rPr lang="zh-CN" altLang="en-US" dirty="0">
                <a:solidFill>
                  <a:srgbClr val="FF0000"/>
                </a:solidFill>
              </a:rPr>
              <a:t>树的根节点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标记每个</a:t>
            </a:r>
            <a:r>
              <a:rPr lang="en-US" altLang="zh-CN" dirty="0">
                <a:solidFill>
                  <a:srgbClr val="FF0000"/>
                </a:solidFill>
              </a:rPr>
              <a:t>T</a:t>
            </a:r>
            <a:r>
              <a:rPr lang="zh-CN" altLang="en-US" dirty="0">
                <a:solidFill>
                  <a:srgbClr val="FF0000"/>
                </a:solidFill>
              </a:rPr>
              <a:t>结尾的点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59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9AFF8-9B4C-42C6-9AB0-08F208BD4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后缀自动机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B35FCDF-5B6C-4675-A384-165C770BBB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6"/>
              </a:xfrm>
            </p:spPr>
            <p:txBody>
              <a:bodyPr/>
              <a:lstStyle/>
              <a:p>
                <a:r>
                  <a:rPr lang="en-US" altLang="zh-CN" dirty="0"/>
                  <a:t>suffix automaton, SAM</a:t>
                </a:r>
              </a:p>
              <a:p>
                <a:r>
                  <a:rPr lang="zh-CN" altLang="en-US" dirty="0"/>
                  <a:t>字符串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/>
                  <a:t>SAM</a:t>
                </a:r>
                <a:r>
                  <a:rPr lang="zh-CN" altLang="en-US" dirty="0"/>
                  <a:t>是一个接受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所有后缀</a:t>
                </a:r>
                <a:r>
                  <a:rPr lang="zh-CN" altLang="en-US" dirty="0"/>
                  <a:t>的最小</a:t>
                </a:r>
                <a:r>
                  <a:rPr lang="en-US" altLang="zh-CN" dirty="0"/>
                  <a:t>DFA</a:t>
                </a:r>
                <a:r>
                  <a:rPr lang="zh-CN" altLang="en-US" dirty="0"/>
                  <a:t>，因此：</a:t>
                </a:r>
                <a:endParaRPr lang="en-US" altLang="zh-CN" dirty="0"/>
              </a:p>
              <a:p>
                <a:r>
                  <a:rPr lang="en-US" altLang="zh-CN" dirty="0"/>
                  <a:t>SAM</a:t>
                </a:r>
                <a:r>
                  <a:rPr lang="zh-CN" altLang="en-US" dirty="0"/>
                  <a:t>是一个</a:t>
                </a:r>
                <a:r>
                  <a:rPr lang="en-US" altLang="zh-CN" dirty="0"/>
                  <a:t>DAG</a:t>
                </a:r>
                <a:r>
                  <a:rPr lang="zh-CN" altLang="en-US" dirty="0"/>
                  <a:t>，结点表示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状态</a:t>
                </a:r>
                <a:r>
                  <a:rPr lang="zh-CN" altLang="en-US" dirty="0"/>
                  <a:t>，边表示状态的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转移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/>
                  <a:t>存在起始状态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，各个结点均可从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出发到达</a:t>
                </a:r>
                <a:endParaRPr lang="en-US" altLang="zh-CN" dirty="0"/>
              </a:p>
              <a:p>
                <a:r>
                  <a:rPr lang="zh-CN" altLang="en-US" dirty="0"/>
                  <a:t>边上标有字符，从一个点引出的边，字符均不同（函数的性质）</a:t>
                </a:r>
                <a:endParaRPr lang="en-US" altLang="zh-CN" dirty="0"/>
              </a:p>
              <a:p>
                <a:r>
                  <a:rPr lang="zh-CN" altLang="en-US" dirty="0"/>
                  <a:t>存在若干终止状态，如果从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出发到达了某个终止状态，路径上的字符连接起来一定是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的后缀；每个后缀同样可以用上面的方式得到</a:t>
                </a:r>
                <a:endParaRPr lang="en-US" altLang="zh-CN" dirty="0"/>
              </a:p>
              <a:p>
                <a:r>
                  <a:rPr lang="zh-CN" altLang="en-US" dirty="0"/>
                  <a:t>在所有满足性质的</a:t>
                </a:r>
                <a:r>
                  <a:rPr lang="en-US" altLang="zh-CN" dirty="0"/>
                  <a:t>DFA</a:t>
                </a:r>
                <a:r>
                  <a:rPr lang="zh-CN" altLang="en-US" dirty="0"/>
                  <a:t>中，</a:t>
                </a:r>
                <a:r>
                  <a:rPr lang="en-US" altLang="zh-CN" dirty="0"/>
                  <a:t>SAM</a:t>
                </a:r>
                <a:r>
                  <a:rPr lang="zh-CN" altLang="en-US" dirty="0"/>
                  <a:t>的状态数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最少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/>
                  <a:t>存在性可以由后续的构造算法给出，我们分析过程中直接用</a:t>
                </a:r>
                <a:r>
                  <a:rPr lang="en-US" altLang="zh-CN" dirty="0"/>
                  <a:t>...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B35FCDF-5B6C-4675-A384-165C770BBB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6"/>
              </a:xfrm>
              <a:blipFill>
                <a:blip r:embed="rId2"/>
                <a:stretch>
                  <a:fillRect l="-1043" t="-21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536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AF729-7B9E-4B76-9D3E-2F8204913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后缀自动机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7BA7CA0-3500-401B-86B4-36AAF07F91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480172"/>
              </a:xfrm>
            </p:spPr>
            <p:txBody>
              <a:bodyPr/>
              <a:lstStyle/>
              <a:p>
                <a:r>
                  <a:rPr lang="zh-CN" altLang="en-US" dirty="0"/>
                  <a:t>因为从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出发可以接受所有后缀，因此可以用一个从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出发路径表示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的一个子串</a:t>
                </a:r>
                <a:endParaRPr lang="en-US" altLang="zh-CN" dirty="0"/>
              </a:p>
              <a:p>
                <a:r>
                  <a:rPr lang="zh-CN" altLang="en-US" dirty="0"/>
                  <a:t>为什么？</a:t>
                </a:r>
                <a:endParaRPr lang="en-US" altLang="zh-CN" dirty="0"/>
              </a:p>
              <a:p>
                <a:r>
                  <a:rPr lang="zh-CN" altLang="en-US" dirty="0"/>
                  <a:t>在接受后缀的中途停下，即可得到一个后缀的前缀</a:t>
                </a:r>
                <a:r>
                  <a:rPr lang="en-US" altLang="zh-CN" dirty="0"/>
                  <a:t>...</a:t>
                </a:r>
              </a:p>
              <a:p>
                <a:r>
                  <a:rPr lang="zh-CN" altLang="en-US" dirty="0"/>
                  <a:t>不同的路径唯一对应一个本质不同的子串</a:t>
                </a:r>
                <a:endParaRPr lang="en-US" altLang="zh-CN" dirty="0"/>
              </a:p>
              <a:p>
                <a:r>
                  <a:rPr lang="zh-CN" altLang="en-US" dirty="0"/>
                  <a:t>为什么？</a:t>
                </a:r>
                <a:endParaRPr lang="en-US" altLang="zh-CN" dirty="0"/>
              </a:p>
              <a:p>
                <a:r>
                  <a:rPr lang="zh-CN" altLang="en-US" dirty="0"/>
                  <a:t>到达某个状态的路径不止一条，因此一个状态对应一些子串组成的集合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7BA7CA0-3500-401B-86B4-36AAF07F91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480172"/>
              </a:xfrm>
              <a:blipFill>
                <a:blip r:embed="rId2"/>
                <a:stretch>
                  <a:fillRect l="-1043" t="-2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278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B884B-662D-4711-BB36-15EB02A1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后缀自动机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F700B9-E719-45B6-BC55-1C7622B646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以下是一些</a:t>
                </a:r>
                <a:r>
                  <a:rPr lang="en-US" altLang="zh-CN" dirty="0"/>
                  <a:t>SAM</a:t>
                </a:r>
                <a:r>
                  <a:rPr lang="zh-CN" altLang="en-US" dirty="0"/>
                  <a:t>的例子，蓝色表示起始状态，绿色表示终止状态</a:t>
                </a:r>
                <a:endParaRPr lang="en-US" altLang="zh-CN" dirty="0"/>
              </a:p>
              <a:p>
                <a:r>
                  <a:rPr lang="zh-CN" altLang="en-US" dirty="0"/>
                  <a:t>请大家注意观察是否接受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的每一个后缀，并表示出所有子串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F700B9-E719-45B6-BC55-1C7622B646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BD741043-9A8E-464F-96B8-389C16B89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707" y="2919476"/>
            <a:ext cx="3896246" cy="254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442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B884B-662D-4711-BB36-15EB02A1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后缀自动机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F700B9-E719-45B6-BC55-1C7622B646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以下是一些</a:t>
                </a:r>
                <a:r>
                  <a:rPr lang="en-US" altLang="zh-CN" dirty="0"/>
                  <a:t>SAM</a:t>
                </a:r>
                <a:r>
                  <a:rPr lang="zh-CN" altLang="en-US" dirty="0"/>
                  <a:t>的例子，蓝色表示起始状态，绿色表示终止状态</a:t>
                </a:r>
                <a:endParaRPr lang="en-US" altLang="zh-CN" dirty="0"/>
              </a:p>
              <a:p>
                <a:r>
                  <a:rPr lang="zh-CN" altLang="en-US" dirty="0"/>
                  <a:t>请大家注意观察是否接受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的每一个后缀，并表示出所有子串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F700B9-E719-45B6-BC55-1C7622B646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E1EFC7E7-0834-40C0-853F-1AD747CEC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945" y="2954925"/>
            <a:ext cx="3963030" cy="257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40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B884B-662D-4711-BB36-15EB02A1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后缀自动机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F700B9-E719-45B6-BC55-1C7622B646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以下是一些</a:t>
                </a:r>
                <a:r>
                  <a:rPr lang="en-US" altLang="zh-CN" dirty="0"/>
                  <a:t>SAM</a:t>
                </a:r>
                <a:r>
                  <a:rPr lang="zh-CN" altLang="en-US" dirty="0"/>
                  <a:t>的例子，蓝色表示起始状态，绿色表示终止状态</a:t>
                </a:r>
                <a:endParaRPr lang="en-US" altLang="zh-CN" dirty="0"/>
              </a:p>
              <a:p>
                <a:r>
                  <a:rPr lang="zh-CN" altLang="en-US" dirty="0"/>
                  <a:t>请大家注意观察是否接受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的每一个后缀，并表示出所有子串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F700B9-E719-45B6-BC55-1C7622B646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D8AC2249-00F0-4CA3-8D1B-3555A0B82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433" y="2940640"/>
            <a:ext cx="5616700" cy="291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52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B884B-662D-4711-BB36-15EB02A1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后缀自动机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F700B9-E719-45B6-BC55-1C7622B646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以下是一些</a:t>
                </a:r>
                <a:r>
                  <a:rPr lang="en-US" altLang="zh-CN" dirty="0"/>
                  <a:t>SAM</a:t>
                </a:r>
                <a:r>
                  <a:rPr lang="zh-CN" altLang="en-US" dirty="0"/>
                  <a:t>的例子，蓝色表示起始状态，绿色表示终止状态</a:t>
                </a:r>
                <a:endParaRPr lang="en-US" altLang="zh-CN" dirty="0"/>
              </a:p>
              <a:p>
                <a:r>
                  <a:rPr lang="zh-CN" altLang="en-US" dirty="0"/>
                  <a:t>请大家注意观察是否接受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的每一个后缀，并表示出所有子串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F700B9-E719-45B6-BC55-1C7622B646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E5EA77F8-B615-42FB-A68E-2E88D1CD2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803" y="2802181"/>
            <a:ext cx="5578722" cy="337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477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B884B-662D-4711-BB36-15EB02A1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后缀自动机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F700B9-E719-45B6-BC55-1C7622B646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以下是一些</a:t>
                </a:r>
                <a:r>
                  <a:rPr lang="en-US" altLang="zh-CN" dirty="0"/>
                  <a:t>SAM</a:t>
                </a:r>
                <a:r>
                  <a:rPr lang="zh-CN" altLang="en-US" dirty="0"/>
                  <a:t>的例子，蓝色表示起始状态，绿色表示终止状态</a:t>
                </a:r>
                <a:endParaRPr lang="en-US" altLang="zh-CN" dirty="0"/>
              </a:p>
              <a:p>
                <a:r>
                  <a:rPr lang="zh-CN" altLang="en-US" dirty="0"/>
                  <a:t>请大家注意观察是否接受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的每一个后缀，并表示出所有子串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F700B9-E719-45B6-BC55-1C7622B646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2C02C1C5-A43D-4B7D-A39B-A9489F3BF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055" y="2987700"/>
            <a:ext cx="5933513" cy="318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498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B884B-662D-4711-BB36-15EB02A1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后缀自动机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F700B9-E719-45B6-BC55-1C7622B646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以下是一些</a:t>
                </a:r>
                <a:r>
                  <a:rPr lang="en-US" altLang="zh-CN" dirty="0"/>
                  <a:t>SAM</a:t>
                </a:r>
                <a:r>
                  <a:rPr lang="zh-CN" altLang="en-US" dirty="0"/>
                  <a:t>的例子，蓝色表示起始状态，绿色表示终止状态</a:t>
                </a:r>
                <a:endParaRPr lang="en-US" altLang="zh-CN" dirty="0"/>
              </a:p>
              <a:p>
                <a:r>
                  <a:rPr lang="zh-CN" altLang="en-US" dirty="0"/>
                  <a:t>请大家注意观察是否接受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的每一个后缀，并表示出所有子串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F700B9-E719-45B6-BC55-1C7622B646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4D4BEA0A-5A75-46C8-8755-93455AE24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673" y="3011171"/>
            <a:ext cx="6400062" cy="279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496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CD7AB5-D844-47A2-AEEF-32461EE86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后缀自动机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61C721-79E9-455E-8217-3361A6BDE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在描述构造</a:t>
            </a:r>
            <a:r>
              <a:rPr lang="en-US" altLang="zh-CN" dirty="0"/>
              <a:t>SAM</a:t>
            </a:r>
            <a:r>
              <a:rPr lang="zh-CN" altLang="en-US" dirty="0"/>
              <a:t>的算法之前，需要理解几个重要概念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0423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E0A0FC2-7955-401F-BF6D-1F589CC6165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𝑒𝑛𝑑𝑝𝑜𝑠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E0A0FC2-7955-401F-BF6D-1F589CC616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5E862A5-26AD-4FC6-A6F2-E3F5298FF7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结束位置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𝑒𝑛𝑑𝑝𝑜𝑠</m:t>
                    </m:r>
                  </m:oMath>
                </a14:m>
                <a:r>
                  <a:rPr lang="zh-CN" altLang="en-US" i="0" dirty="0">
                    <a:latin typeface="+mj-lt"/>
                  </a:rPr>
                  <a:t>集合，</a:t>
                </a:r>
                <a:r>
                  <a:rPr lang="zh-CN" altLang="en-US" dirty="0"/>
                  <a:t>也有人称为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𝑟𝑖𝑔h𝑡</m:t>
                    </m:r>
                  </m:oMath>
                </a14:m>
                <a:r>
                  <a:rPr lang="zh-CN" altLang="en-US" dirty="0"/>
                  <a:t>集合</a:t>
                </a:r>
                <a:endParaRPr lang="en-US" altLang="zh-CN" dirty="0"/>
              </a:p>
              <a:p>
                <a:r>
                  <a:rPr lang="zh-CN" altLang="en-US" dirty="0"/>
                  <a:t>考虑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的任意非空子串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𝑒𝑛𝑑𝑝𝑜𝑠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表示在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中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的所有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结束位置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/>
                  <a:t>例如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𝑎𝑏𝑐𝑏𝑐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𝑏𝑐</m:t>
                    </m:r>
                  </m:oMath>
                </a14:m>
                <a:r>
                  <a:rPr lang="zh-CN" altLang="en-US" dirty="0"/>
                  <a:t>，有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𝑒𝑛𝑑𝑝𝑜𝑠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𝑏𝑐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)={3,5}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请大家求出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𝑎𝑎𝑏𝑎𝑏</m:t>
                    </m:r>
                  </m:oMath>
                </a14:m>
                <a:r>
                  <a:rPr lang="zh-CN" altLang="en-US" dirty="0"/>
                  <a:t>所有子串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及对应的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𝑒𝑛𝑑𝑝𝑜𝑠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，并观察：</a:t>
                </a:r>
                <a:endParaRPr lang="en-US" altLang="zh-CN" dirty="0"/>
              </a:p>
              <a:p>
                <a:r>
                  <a:rPr lang="en-US" altLang="zh-CN" dirty="0"/>
                  <a:t>1.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𝑒𝑛𝑑𝑝𝑜𝑠</m:t>
                    </m:r>
                  </m:oMath>
                </a14:m>
                <a:r>
                  <a:rPr lang="zh-CN" altLang="en-US" dirty="0"/>
                  <a:t>集合相同的字符串之间的关系</a:t>
                </a:r>
                <a:endParaRPr lang="en-US" altLang="zh-CN" dirty="0"/>
              </a:p>
              <a:p>
                <a:r>
                  <a:rPr lang="en-US" altLang="zh-CN" dirty="0"/>
                  <a:t>2.</a:t>
                </a:r>
                <a:r>
                  <a:rPr lang="zh-CN" altLang="en-US" dirty="0"/>
                  <a:t>不同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𝑒𝑛𝑑𝑝𝑜𝑠</m:t>
                    </m:r>
                  </m:oMath>
                </a14:m>
                <a:r>
                  <a:rPr lang="zh-CN" altLang="en-US" dirty="0"/>
                  <a:t>集合之间的关系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5E862A5-26AD-4FC6-A6F2-E3F5298FF7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500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A7429E8-F6AA-4DF7-83BD-BF44D70610E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𝑒𝑛𝑑𝑝𝑜𝑠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A7429E8-F6AA-4DF7-83BD-BF44D70610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00C481-D4B0-4365-BB6B-97A8CD1BCC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24557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en-US" b="1" dirty="0"/>
                  <a:t>引理一</a:t>
                </a:r>
                <a:r>
                  <a:rPr lang="zh-CN" altLang="en-US" dirty="0"/>
                  <a:t>：对于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的两个非空子串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&lt;|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|)</m:t>
                    </m:r>
                  </m:oMath>
                </a14:m>
                <a:r>
                  <a:rPr lang="zh-CN" altLang="en-US" dirty="0"/>
                  <a:t>，两者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𝑒𝑛𝑑𝑝𝑜𝑠</m:t>
                    </m:r>
                  </m:oMath>
                </a14:m>
                <a:r>
                  <a:rPr lang="zh-CN" altLang="en-US" dirty="0"/>
                  <a:t>集合相同，当且仅当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i="0" dirty="0">
                    <a:latin typeface="+mj-lt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i="0" dirty="0">
                    <a:latin typeface="+mj-lt"/>
                  </a:rPr>
                  <a:t>中的每次出现时，都是以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后缀的形式出现。</a:t>
                </a:r>
                <a:endParaRPr lang="en-US" altLang="zh-CN" dirty="0"/>
              </a:p>
              <a:p>
                <a:r>
                  <a:rPr lang="zh-CN" altLang="en-US" dirty="0"/>
                  <a:t>证明比较显然</a:t>
                </a:r>
                <a:endParaRPr lang="en-US" altLang="zh-CN" dirty="0"/>
              </a:p>
              <a:p>
                <a:r>
                  <a:rPr lang="zh-CN" altLang="en-US" b="1" dirty="0"/>
                  <a:t>引理二</a:t>
                </a:r>
                <a:r>
                  <a:rPr lang="zh-CN" altLang="en-US" dirty="0"/>
                  <a:t>：对于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的两个非空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&lt;|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|)</m:t>
                    </m:r>
                  </m:oMath>
                </a14:m>
                <a:r>
                  <a:rPr lang="zh-CN" altLang="en-US" dirty="0"/>
                  <a:t>，要么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𝑒𝑛𝑑𝑝𝑜𝑠</m:t>
                    </m:r>
                  </m:oMath>
                </a14:m>
                <a:r>
                  <a:rPr lang="zh-CN" altLang="en-US" dirty="0"/>
                  <a:t>不交；要么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𝑒𝑛𝑑𝑝𝑜𝑠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𝑒𝑛𝑑𝑝𝑜𝑠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，此时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的后缀</a:t>
                </a:r>
                <a:endParaRPr lang="en-US" altLang="zh-CN" dirty="0"/>
              </a:p>
              <a:p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的后缀时，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出现的位置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dirty="0"/>
                  <a:t>肯定也能出现</a:t>
                </a:r>
                <a:endParaRPr lang="en-US" altLang="zh-CN" dirty="0"/>
              </a:p>
              <a:p>
                <a:r>
                  <a:rPr lang="zh-CN" altLang="en-US" b="1" dirty="0"/>
                  <a:t>引理三</a:t>
                </a:r>
                <a:r>
                  <a:rPr lang="zh-CN" altLang="en-US" dirty="0"/>
                  <a:t>：将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𝑒𝑛𝑑𝑝𝑜𝑠</m:t>
                    </m:r>
                  </m:oMath>
                </a14:m>
                <a:r>
                  <a:rPr lang="zh-CN" altLang="en-US" dirty="0"/>
                  <a:t>相同的子串分入同一个等价类，每一个等价类内部的串长度是一个连续区间，并且短的串一定是长的串的后缀</a:t>
                </a:r>
                <a:endParaRPr lang="en-US" altLang="zh-CN" dirty="0"/>
              </a:p>
              <a:p>
                <a:r>
                  <a:rPr lang="zh-CN" altLang="en-US" dirty="0"/>
                  <a:t>考虑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𝑚𝑖𝑛𝐿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𝑚𝑎𝑥𝐿</m:t>
                    </m:r>
                  </m:oMath>
                </a14:m>
                <a:r>
                  <a:rPr lang="zh-CN" altLang="en-US" dirty="0"/>
                  <a:t>之间的长度，不可能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𝑒𝑛𝑑𝑝𝑜𝑠</m:t>
                    </m:r>
                  </m:oMath>
                </a14:m>
                <a:r>
                  <a:rPr lang="zh-CN" altLang="en-US" dirty="0"/>
                  <a:t>不等于它俩的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00C481-D4B0-4365-BB6B-97A8CD1BCC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24557"/>
              </a:xfrm>
              <a:blipFill>
                <a:blip r:embed="rId3"/>
                <a:stretch>
                  <a:fillRect l="-928" t="-1894" r="-4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236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C40301D-22CE-4AE4-8CB6-C77FBCA38BB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𝑒𝑛𝑑𝑝𝑜𝑠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C40301D-22CE-4AE4-8CB6-C77FBCA38B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7800CE-2F8F-459C-9F5D-55A29C8EE3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在</a:t>
                </a:r>
                <a:r>
                  <a:rPr lang="en-US" altLang="zh-CN" dirty="0"/>
                  <a:t>SAM</a:t>
                </a:r>
                <a:r>
                  <a:rPr lang="zh-CN" altLang="en-US" dirty="0"/>
                  <a:t>中，每个点对应一个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𝑒𝑛𝑑𝑝𝑜𝑠</m:t>
                    </m:r>
                  </m:oMath>
                </a14:m>
                <a:r>
                  <a:rPr lang="zh-CN" altLang="en-US" dirty="0"/>
                  <a:t>等价类</a:t>
                </a:r>
                <a:endParaRPr lang="en-US" altLang="zh-CN" dirty="0"/>
              </a:p>
              <a:p>
                <a:r>
                  <a:rPr lang="zh-CN" altLang="en-US" dirty="0"/>
                  <a:t>为什么？</a:t>
                </a:r>
                <a:endParaRPr lang="en-US" altLang="zh-CN" dirty="0"/>
              </a:p>
              <a:p>
                <a:r>
                  <a:rPr lang="zh-CN" altLang="en-US" dirty="0"/>
                  <a:t>因为可以走相同长度的步数变成后缀</a:t>
                </a:r>
                <a:endParaRPr lang="en-US" altLang="zh-CN" dirty="0"/>
              </a:p>
              <a:p>
                <a:r>
                  <a:rPr lang="zh-CN" altLang="en-US" dirty="0"/>
                  <a:t>因此走到同一个状态的所有路径，长度处于一个区间，且短的串为长的串的后缀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7800CE-2F8F-459C-9F5D-55A29C8EE3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146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65EB88D-61A9-4613-8A35-3D66C9EE6B9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𝑙𝑖𝑛𝑘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65EB88D-61A9-4613-8A35-3D66C9EE6B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DAF239E-2A0A-47F0-B88F-F622A3065B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后缀链接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考虑</a:t>
                </a:r>
                <a:r>
                  <a:rPr lang="en-US" altLang="zh-CN" dirty="0"/>
                  <a:t>SAM</a:t>
                </a:r>
                <a:r>
                  <a:rPr lang="zh-CN" altLang="en-US" dirty="0"/>
                  <a:t>中的状态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dirty="0"/>
                  <a:t>对应的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𝑒𝑛𝑑𝑝𝑜𝑠</m:t>
                    </m:r>
                  </m:oMath>
                </a14:m>
                <a:r>
                  <a:rPr lang="zh-CN" altLang="en-US" dirty="0"/>
                  <a:t>等价类，取其中最长的一个，设为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，等价类中其它串均为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的后缀</a:t>
                </a:r>
                <a:endParaRPr lang="en-US" altLang="zh-CN" dirty="0"/>
              </a:p>
              <a:p>
                <a:r>
                  <a:rPr lang="zh-CN" altLang="en-US" dirty="0"/>
                  <a:t>因为等价类中串的长度为一个区间，因此存在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的后缀（至少是一个空串）不在当前等价类里，记最长的那个后缀所在的等价类为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方便起见规定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𝑒𝑛𝑑𝑝𝑜𝑠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={0,1,2,…,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DAF239E-2A0A-47F0-B88F-F622A3065B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303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1863F4F-B803-4F4E-941D-16709EB54FA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𝑙𝑖𝑛𝑘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1863F4F-B803-4F4E-941D-16709EB54F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CA9F095-8956-4707-BA5D-8E25B8D604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b="1" i="0" dirty="0">
                    <a:latin typeface="+mj-lt"/>
                  </a:rPr>
                  <a:t>引理四</a:t>
                </a:r>
                <a:r>
                  <a:rPr lang="zh-CN" altLang="en-US" dirty="0"/>
                  <a:t>：所有后缀链接构成一棵根节点为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的树</a:t>
                </a:r>
                <a:endParaRPr lang="en-US" altLang="zh-CN" dirty="0"/>
              </a:p>
              <a:p>
                <a:r>
                  <a:rPr lang="zh-CN" altLang="en-US" dirty="0"/>
                  <a:t>每次跳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</m:oMath>
                </a14:m>
                <a:r>
                  <a:rPr lang="zh-CN" altLang="en-US" dirty="0"/>
                  <a:t>，等价类的长度区间在左移，最终一定移到空串上</a:t>
                </a:r>
                <a:endParaRPr lang="en-US" altLang="zh-CN" dirty="0"/>
              </a:p>
              <a:p>
                <a:r>
                  <a:rPr lang="zh-CN" altLang="en-US" b="1" i="0" dirty="0">
                    <a:latin typeface="+mj-lt"/>
                  </a:rPr>
                  <a:t>引理五</a:t>
                </a:r>
                <a:r>
                  <a:rPr lang="zh-CN" altLang="en-US" dirty="0"/>
                  <a:t>：通过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𝑒𝑛𝑑𝑝𝑜𝑠</m:t>
                    </m:r>
                  </m:oMath>
                </a14:m>
                <a:r>
                  <a:rPr lang="zh-CN" altLang="en-US" dirty="0"/>
                  <a:t>集合构造的树（规则：祖先节点的集合一定包含后代的集合），与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</m:oMath>
                </a14:m>
                <a:r>
                  <a:rPr lang="zh-CN" altLang="en-US" dirty="0"/>
                  <a:t>构造的树相同</a:t>
                </a:r>
                <a:endParaRPr lang="en-US" altLang="zh-CN" dirty="0"/>
              </a:p>
              <a:p>
                <a:r>
                  <a:rPr lang="zh-CN" altLang="en-US" dirty="0"/>
                  <a:t>比较显然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</m:oMath>
                </a14:m>
                <a:r>
                  <a:rPr lang="zh-CN" altLang="en-US" dirty="0"/>
                  <a:t>指向的集合是包含当前集合当中最小的一个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CA9F095-8956-4707-BA5D-8E25B8D604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 r="-2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85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EC96A6-49A7-4A96-B6AE-D5A95313C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C98BB93-FEF6-4101-9AA7-59FC60D9B8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0984" y="1377538"/>
            <a:ext cx="7242440" cy="4809506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1C4D198-25B9-4D9F-BCEE-292296BB764C}"/>
                  </a:ext>
                </a:extLst>
              </p:cNvPr>
              <p:cNvSpPr txBox="1"/>
              <p:nvPr/>
            </p:nvSpPr>
            <p:spPr>
              <a:xfrm>
                <a:off x="8502733" y="2592462"/>
                <a:ext cx="30309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/>
                  <a:t>写一下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𝑙𝑖𝑛𝑘</m:t>
                    </m:r>
                  </m:oMath>
                </a14:m>
                <a:r>
                  <a:rPr lang="zh-CN" altLang="en-US" sz="2000" dirty="0"/>
                  <a:t>树上每个点的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𝑒𝑛𝑑𝑝𝑜𝑠</m:t>
                    </m:r>
                  </m:oMath>
                </a14:m>
                <a:r>
                  <a:rPr lang="zh-CN" altLang="en-US" sz="2000" dirty="0"/>
                  <a:t>以及所有子串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1C4D198-25B9-4D9F-BCEE-292296BB7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2733" y="2592462"/>
                <a:ext cx="3030900" cy="707886"/>
              </a:xfrm>
              <a:prstGeom prst="rect">
                <a:avLst/>
              </a:prstGeom>
              <a:blipFill>
                <a:blip r:embed="rId3"/>
                <a:stretch>
                  <a:fillRect l="-2213" t="-4310" b="-14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3129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3A17C-31B1-4D06-A999-699B0112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0B8E5B8-7F31-4898-A141-3B0AC04B4F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/>
                  <a:t>小结一下并引入一些记号：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的子串可以根据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𝑒𝑛𝑑𝑝𝑜𝑠</m:t>
                    </m:r>
                  </m:oMath>
                </a14:m>
                <a:r>
                  <a:rPr lang="zh-CN" altLang="en-US" dirty="0"/>
                  <a:t>划分为若干等价类</a:t>
                </a:r>
                <a:endParaRPr lang="en-US" altLang="zh-CN" dirty="0"/>
              </a:p>
              <a:p>
                <a:r>
                  <a:rPr lang="en-US" altLang="zh-CN" dirty="0"/>
                  <a:t>SAM</a:t>
                </a:r>
                <a:r>
                  <a:rPr lang="zh-CN" altLang="en-US" dirty="0"/>
                  <a:t>由起始状态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和每一个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𝑒𝑛𝑑𝑝𝑜𝑠</m:t>
                    </m:r>
                  </m:oMath>
                </a14:m>
                <a:r>
                  <a:rPr lang="zh-CN" altLang="en-US" dirty="0"/>
                  <a:t>对应的状态组成</a:t>
                </a:r>
                <a:endParaRPr lang="en-US" altLang="zh-CN" dirty="0"/>
              </a:p>
              <a:p>
                <a:r>
                  <a:rPr lang="zh-CN" altLang="en-US" dirty="0"/>
                  <a:t>对于每个状态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dirty="0"/>
                  <a:t>，其包含若干个子串，记最长的长度为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，最短的长度为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𝑚𝑖𝑛𝑙𝑒𝑛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，子串长度均在区间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𝑚𝑖𝑛𝑙𝑒𝑛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𝑙𝑒𝑛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/>
                  <a:t>内，且均为最长子串的后缀</a:t>
                </a:r>
                <a:endParaRPr lang="en-US" altLang="zh-CN" dirty="0"/>
              </a:p>
              <a:p>
                <a:r>
                  <a:rPr lang="zh-CN" altLang="en-US" dirty="0"/>
                  <a:t>对应每个状态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zh-CN" altLang="en-US" dirty="0"/>
                  <a:t>满足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𝑚𝑖𝑛𝑙𝑒𝑛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))+1</m:t>
                    </m:r>
                  </m:oMath>
                </a14:m>
                <a:r>
                  <a:rPr lang="zh-CN" altLang="en-US" dirty="0"/>
                  <a:t>，且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包含的所有子串均是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dirty="0"/>
                  <a:t>中子串的后缀</a:t>
                </a:r>
                <a:endParaRPr lang="en-US" altLang="zh-CN" dirty="0"/>
              </a:p>
              <a:p>
                <a:r>
                  <a:rPr lang="zh-CN" altLang="en-US" dirty="0"/>
                  <a:t>从任意状态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dirty="0"/>
                  <a:t>沿着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</m:oMath>
                </a14:m>
                <a:r>
                  <a:rPr lang="zh-CN" altLang="en-US" dirty="0"/>
                  <a:t>往上跳，总会到达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，并且能得到若干不相交，且并起来为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zh-CN" altLang="en-US" dirty="0"/>
                  <a:t>的区间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0B8E5B8-7F31-4898-A141-3B0AC04B4F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221" r="-4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345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DD7D0-C680-4ED1-AC3C-31ABAEDCC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8DA273-43E1-43E3-B1EE-BEA2749673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构造算法是在线的，我们依次加入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的每个字符，并在每一步中对应地维护</a:t>
                </a:r>
                <a:r>
                  <a:rPr lang="en-US" altLang="zh-CN" dirty="0"/>
                  <a:t>SAM</a:t>
                </a:r>
              </a:p>
              <a:p>
                <a:r>
                  <a:rPr lang="zh-CN" altLang="en-US" dirty="0"/>
                  <a:t>构造过程中只保存每个状态的边、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𝑙𝑒𝑛</m:t>
                    </m:r>
                  </m:oMath>
                </a14:m>
                <a:r>
                  <a:rPr lang="zh-CN" altLang="en-US" dirty="0"/>
                  <a:t>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初始</a:t>
                </a:r>
                <a:r>
                  <a:rPr lang="en-US" altLang="zh-CN" dirty="0"/>
                  <a:t>SAM</a:t>
                </a:r>
                <a:r>
                  <a:rPr lang="zh-CN" altLang="en-US" dirty="0"/>
                  <a:t>只有起始状态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，编号为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[1]=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[1]=0</m:t>
                    </m:r>
                  </m:oMath>
                </a14:m>
                <a:r>
                  <a:rPr lang="zh-CN" altLang="en-US" dirty="0"/>
                  <a:t>，其中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是虚拟状态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8DA273-43E1-43E3-B1EE-BEA2749673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 r="-4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833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18973D-CCCD-46D2-8C20-AD76176FC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EEA24E8-CA9A-4BA2-A594-81F813DD55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假设我们已经构造好了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/>
                  <a:t>SAM</a:t>
                </a:r>
                <a:r>
                  <a:rPr lang="zh-CN" altLang="en-US" dirty="0"/>
                  <a:t>，这时构造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/>
                  <a:t>SAM</a:t>
                </a:r>
              </a:p>
              <a:p>
                <a:r>
                  <a:rPr lang="zh-CN" altLang="en-US" dirty="0"/>
                  <a:t>思考加入末尾的字符后，我们需要多出哪些东西</a:t>
                </a:r>
                <a:endParaRPr lang="en-US" altLang="zh-CN" dirty="0"/>
              </a:p>
              <a:p>
                <a:r>
                  <a:rPr lang="zh-CN" altLang="en-US" dirty="0"/>
                  <a:t>最直观的就是多出了若干没有出现过的后缀（至少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没出现过）</a:t>
                </a:r>
                <a:endParaRPr lang="en-US" altLang="zh-CN" dirty="0"/>
              </a:p>
              <a:p>
                <a:r>
                  <a:rPr lang="zh-CN" altLang="en-US" dirty="0"/>
                  <a:t>维护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𝑙𝑎𝑠𝑡</m:t>
                    </m:r>
                  </m:oMath>
                </a14:m>
                <a:r>
                  <a:rPr lang="zh-CN" altLang="en-US" dirty="0"/>
                  <a:t>表示添加字符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之前，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所处的状态</a:t>
                </a:r>
                <a:endParaRPr lang="en-US" altLang="zh-CN" dirty="0"/>
              </a:p>
              <a:p>
                <a:r>
                  <a:rPr lang="zh-CN" altLang="en-US" dirty="0"/>
                  <a:t>首先创建新的状态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𝑐𝑢𝑟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𝑙𝑒𝑛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𝑐𝑢𝑟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𝑙𝑒𝑛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𝑙𝑎𝑠𝑡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为什么？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𝑢𝑟</m:t>
                    </m:r>
                  </m:oMath>
                </a14:m>
                <a:r>
                  <a:rPr lang="zh-CN" altLang="en-US" dirty="0"/>
                  <a:t>需要包含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EEA24E8-CA9A-4BA2-A594-81F813DD55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307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6DBCEE-9A16-4086-867C-4E3299E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25979FF-32B8-490E-AAD2-3C24E3B27C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𝑙𝑎𝑠𝑡</m:t>
                    </m:r>
                  </m:oMath>
                </a14:m>
                <a:r>
                  <a:rPr lang="zh-CN" altLang="en-US" dirty="0"/>
                  <a:t>开始一直沿着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</m:oMath>
                </a14:m>
                <a:r>
                  <a:rPr lang="zh-CN" altLang="en-US" dirty="0"/>
                  <a:t>跳，将所有没有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转移的状态，都连向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𝑐𝑢𝑟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为什么？</a:t>
                </a:r>
                <a:endParaRPr lang="en-US" altLang="zh-CN" dirty="0"/>
              </a:p>
              <a:p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</m:oMath>
                </a14:m>
                <a:r>
                  <a:rPr lang="zh-CN" altLang="en-US" dirty="0"/>
                  <a:t>一直跳，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𝑒𝑛𝑑𝑝𝑜𝑠</m:t>
                    </m:r>
                  </m:oMath>
                </a14:m>
                <a:r>
                  <a:rPr lang="zh-CN" altLang="en-US" dirty="0"/>
                  <a:t>里面总会有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，原先状态没有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转移，表示对应的新后缀原先没有出现过</a:t>
                </a:r>
                <a:endParaRPr lang="en-US" altLang="zh-CN" dirty="0"/>
              </a:p>
              <a:p>
                <a:r>
                  <a:rPr lang="zh-CN" altLang="en-US" dirty="0"/>
                  <a:t>当跳到某个状态存在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转移，停下来，记该点为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如果不存在这样的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𝑐𝑢𝑟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，然后退出</a:t>
                </a:r>
                <a:endParaRPr lang="en-US" altLang="zh-CN" dirty="0"/>
              </a:p>
              <a:p>
                <a:r>
                  <a:rPr lang="zh-CN" altLang="en-US" dirty="0"/>
                  <a:t>为什么？</a:t>
                </a:r>
                <a:endParaRPr lang="en-US" altLang="zh-CN" dirty="0"/>
              </a:p>
              <a:p>
                <a:r>
                  <a:rPr lang="zh-CN" altLang="en-US" dirty="0"/>
                  <a:t>说明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中不包含任何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，否则至少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存在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的转移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25979FF-32B8-490E-AAD2-3C24E3B27C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300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518E1-167E-4C72-A18F-1519D08EC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25E047B-FA36-4305-986A-FD892C0CEE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现在找到了一个状态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，通过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转移到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说明正在尝试向</a:t>
                </a:r>
                <a:r>
                  <a:rPr lang="en-US" altLang="zh-CN" dirty="0"/>
                  <a:t>SAM</a:t>
                </a:r>
                <a:r>
                  <a:rPr lang="zh-CN" altLang="en-US" dirty="0"/>
                  <a:t>添加已经存在的字符串，</a:t>
                </a:r>
                <a:r>
                  <a:rPr lang="zh-CN" altLang="en-US" i="0" dirty="0">
                    <a:latin typeface="+mj-lt"/>
                  </a:rPr>
                  <a:t>设最长那个为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需要想办法把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𝑐𝑢𝑟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连到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对应的状态，并且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为该状态最长的串 </a:t>
                </a:r>
                <a:endParaRPr lang="en-US" altLang="zh-CN" dirty="0"/>
              </a:p>
              <a:p>
                <a:r>
                  <a:rPr lang="zh-CN" altLang="en-US" dirty="0"/>
                  <a:t>显然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包含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，但什么情况下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中最长的串？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𝑒𝑛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)+1=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)+1=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𝑐𝑢𝑟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，然后退出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25E047B-FA36-4305-986A-FD892C0CEE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76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BB78CF-3B76-4271-828F-BBF045017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917ECBC-5952-4AC9-8C3C-C99605EEC0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𝑙𝑒𝑛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，说明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中最长的串不是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，并且</a:t>
                </a:r>
                <a:r>
                  <a:rPr lang="en-US" altLang="zh-CN" dirty="0"/>
                  <a:t>SAM</a:t>
                </a:r>
                <a:r>
                  <a:rPr lang="zh-CN" altLang="en-US" dirty="0"/>
                  <a:t>中不存在以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为最长串的状态</a:t>
                </a:r>
                <a:endParaRPr lang="en-US" altLang="zh-CN" dirty="0"/>
              </a:p>
              <a:p>
                <a:r>
                  <a:rPr lang="zh-CN" altLang="en-US" dirty="0"/>
                  <a:t>但是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不能再属于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了，因为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𝑒𝑛𝑑𝑝𝑜𝑠</m:t>
                    </m:r>
                  </m:oMath>
                </a14:m>
                <a:r>
                  <a:rPr lang="zh-CN" altLang="en-US" dirty="0"/>
                  <a:t>里面有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只能将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拆开，且</a:t>
                </a:r>
                <a:r>
                  <a:rPr lang="zh-CN" altLang="en-US" i="0" dirty="0">
                    <a:latin typeface="+mj-lt"/>
                  </a:rPr>
                  <a:t>第一个子状态的长度为</a:t>
                </a:r>
                <a14:m>
                  <m:oMath xmlns:m="http://schemas.openxmlformats.org/officeDocument/2006/math"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)+1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拆的时候对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进行复制，产生</a:t>
                </a:r>
                <a:r>
                  <a:rPr lang="zh-CN" altLang="en-US" i="0" dirty="0">
                    <a:latin typeface="+mj-lt"/>
                  </a:rPr>
                  <a:t>新状态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𝑐𝑙𝑜𝑛𝑒</m:t>
                    </m:r>
                  </m:oMath>
                </a14:m>
                <a:br>
                  <a:rPr lang="en-US" altLang="zh-CN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𝑐𝑙𝑜𝑛𝑒</m:t>
                    </m:r>
                  </m:oMath>
                </a14:m>
                <a:r>
                  <a:rPr lang="zh-CN" altLang="en-US" i="0" dirty="0">
                    <a:latin typeface="+mj-lt"/>
                  </a:rPr>
                  <a:t>需要复制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的所有转移和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𝑐𝑙𝑜𝑛𝑒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)+1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然后设置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𝑐𝑢𝑟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𝑐𝑙𝑜𝑛𝑒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最后还要将部分原先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转移到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的边，重定向到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𝑐𝑙𝑜𝑛𝑒</m:t>
                    </m:r>
                  </m:oMath>
                </a14:m>
                <a:r>
                  <a:rPr lang="zh-CN" altLang="en-US" dirty="0"/>
                  <a:t>，从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开始沿着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𝑙𝑖𝑛𝑘</m:t>
                    </m:r>
                  </m:oMath>
                </a14:m>
                <a:r>
                  <a:rPr lang="zh-CN" altLang="en-US" dirty="0"/>
                  <a:t>跳即可，直到跳到虚拟节点或者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转移不是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917ECBC-5952-4AC9-8C3C-C99605EEC0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4103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80D55A-AE37-49C3-901E-C09C90323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时空复杂度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E58E4A-5966-44B8-94A2-B701F02BFA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时空复杂度？</a:t>
                </a:r>
                <a:endParaRPr lang="en-US" altLang="zh-CN" dirty="0"/>
              </a:p>
              <a:p>
                <a:r>
                  <a:rPr lang="zh-CN" altLang="en-US" dirty="0"/>
                  <a:t>如果把字符集大小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看作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常数</m:t>
                    </m:r>
                  </m:oMath>
                </a14:m>
                <a:r>
                  <a:rPr lang="zh-CN" altLang="en-US" dirty="0"/>
                  <a:t>，时空复杂度均为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否则根据存边的方式不同，复杂度不同</a:t>
                </a:r>
                <a:endParaRPr lang="en-US" altLang="zh-CN" dirty="0"/>
              </a:p>
              <a:p>
                <a:r>
                  <a:rPr lang="zh-CN" altLang="en-US" dirty="0"/>
                  <a:t>如果用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 i="0" dirty="0">
                    <a:latin typeface="+mj-lt"/>
                  </a:rPr>
                  <a:t>的数组存边，时间复杂度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，空间复杂度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如果用</a:t>
                </a:r>
                <a:r>
                  <a:rPr lang="en-US" altLang="zh-CN" dirty="0"/>
                  <a:t>map</a:t>
                </a:r>
                <a:r>
                  <a:rPr lang="zh-CN" altLang="en-US" dirty="0"/>
                  <a:t>存边，时间复杂度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𝑛𝑙𝑜𝑔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|)</m:t>
                    </m:r>
                  </m:oMath>
                </a14:m>
                <a:r>
                  <a:rPr lang="zh-CN" altLang="en-US" dirty="0"/>
                  <a:t>，空间复杂度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具体证明及实现参照论文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E58E4A-5966-44B8-94A2-B701F02BFA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851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1881</Words>
  <Application>Microsoft Office PowerPoint</Application>
  <PresentationFormat>宽屏</PresentationFormat>
  <Paragraphs>138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等线</vt:lpstr>
      <vt:lpstr>等线 Light</vt:lpstr>
      <vt:lpstr>Arial</vt:lpstr>
      <vt:lpstr>Cambria Math</vt:lpstr>
      <vt:lpstr>Office 主题​​</vt:lpstr>
      <vt:lpstr>后缀自动机</vt:lpstr>
      <vt:lpstr>说明</vt:lpstr>
      <vt:lpstr>自动机</vt:lpstr>
      <vt:lpstr>后缀自动机</vt:lpstr>
      <vt:lpstr>后缀自动机</vt:lpstr>
      <vt:lpstr>后缀自动机</vt:lpstr>
      <vt:lpstr>后缀自动机</vt:lpstr>
      <vt:lpstr>后缀自动机</vt:lpstr>
      <vt:lpstr>后缀自动机</vt:lpstr>
      <vt:lpstr>后缀自动机</vt:lpstr>
      <vt:lpstr>后缀自动机</vt:lpstr>
      <vt:lpstr>后缀自动机</vt:lpstr>
      <vt:lpstr>endpos</vt:lpstr>
      <vt:lpstr>endpos</vt:lpstr>
      <vt:lpstr>endpos</vt:lpstr>
      <vt:lpstr>link</vt:lpstr>
      <vt:lpstr>link</vt:lpstr>
      <vt:lpstr>小结</vt:lpstr>
      <vt:lpstr>小结</vt:lpstr>
      <vt:lpstr>构造算法</vt:lpstr>
      <vt:lpstr>构造算法</vt:lpstr>
      <vt:lpstr>构造算法</vt:lpstr>
      <vt:lpstr>构造算法</vt:lpstr>
      <vt:lpstr>构造算法</vt:lpstr>
      <vt:lpstr>时空复杂度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后缀自动机</dc:title>
  <dc:creator>何志凌</dc:creator>
  <cp:lastModifiedBy>PYB</cp:lastModifiedBy>
  <cp:revision>10</cp:revision>
  <dcterms:created xsi:type="dcterms:W3CDTF">2023-08-11T02:58:32Z</dcterms:created>
  <dcterms:modified xsi:type="dcterms:W3CDTF">2023-08-15T08:41:14Z</dcterms:modified>
</cp:coreProperties>
</file>